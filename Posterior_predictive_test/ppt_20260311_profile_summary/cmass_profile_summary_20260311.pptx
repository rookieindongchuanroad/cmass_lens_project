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13"/>
    <p:restoredTop sz="94610"/>
  </p:normalViewPr>
  <p:slideViewPr>
    <p:cSldViewPr snapToGrid="0" snapToObjects="1">
      <p:cViewPr>
        <p:scale>
          <a:sx n="138" d="100"/>
          <a:sy n="138" d="100"/>
        </p:scale>
        <p:origin x="408"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691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233446"/>
          </a:solidFill>
          <a:ln w="12700">
            <a:solidFill>
              <a:srgbClr val="F5F0E8">
                <a:alpha val="0"/>
              </a:srgbClr>
            </a:solidFill>
            <a:prstDash val="solid"/>
          </a:ln>
        </p:spPr>
      </p:sp>
      <p:sp>
        <p:nvSpPr>
          <p:cNvPr id="3" name="Text 1"/>
          <p:cNvSpPr/>
          <p:nvPr/>
        </p:nvSpPr>
        <p:spPr>
          <a:xfrm>
            <a:off x="438912" y="384048"/>
            <a:ext cx="8412480" cy="347472"/>
          </a:xfrm>
          <a:prstGeom prst="rect">
            <a:avLst/>
          </a:prstGeom>
          <a:noFill/>
          <a:ln/>
        </p:spPr>
        <p:txBody>
          <a:bodyPr wrap="square" lIns="0" tIns="0" rIns="0" bIns="0" rtlCol="0" anchor="ctr"/>
          <a:lstStyle/>
          <a:p>
            <a:pPr marL="0" indent="0">
              <a:buNone/>
            </a:pPr>
            <a:r>
              <a:rPr lang="en-US" sz="2200" b="1" dirty="0">
                <a:solidFill>
                  <a:srgbClr val="233446"/>
                </a:solidFill>
                <a:latin typeface="Avenir Next" pitchFamily="34" charset="0"/>
                <a:ea typeface="Avenir Next" pitchFamily="34" charset="-122"/>
                <a:cs typeface="Avenir Next" pitchFamily="34" charset="-120"/>
              </a:rPr>
              <a:t>Posterior Corner Plots</a:t>
            </a:r>
            <a:endParaRPr lang="en-US" sz="2200" dirty="0"/>
          </a:p>
        </p:txBody>
      </p:sp>
      <p:sp>
        <p:nvSpPr>
          <p:cNvPr id="4" name="Text 2"/>
          <p:cNvSpPr/>
          <p:nvPr/>
        </p:nvSpPr>
        <p:spPr>
          <a:xfrm>
            <a:off x="457200" y="758952"/>
            <a:ext cx="9326880" cy="274320"/>
          </a:xfrm>
          <a:prstGeom prst="rect">
            <a:avLst/>
          </a:prstGeom>
          <a:noFill/>
          <a:ln/>
        </p:spPr>
        <p:txBody>
          <a:bodyPr wrap="square" lIns="0" tIns="0" rIns="0" bIns="0" rtlCol="0" anchor="ctr"/>
          <a:lstStyle/>
          <a:p>
            <a:pPr marL="0" indent="0">
              <a:buNone/>
            </a:pPr>
            <a:r>
              <a:rPr lang="en-US" sz="900" dirty="0">
                <a:solidFill>
                  <a:srgbClr val="6E6253"/>
                </a:solidFill>
                <a:latin typeface="Avenir Next" pitchFamily="34" charset="0"/>
                <a:ea typeface="Avenir Next" pitchFamily="34" charset="-122"/>
                <a:cs typeface="Avenir Next" pitchFamily="34" charset="-120"/>
              </a:rPr>
              <a:t>Latest production posterior corners created on 2026-03-11; these runs also feed the canonical PPC and posterior-trend summaries.</a:t>
            </a:r>
            <a:endParaRPr lang="en-US" sz="900" dirty="0"/>
          </a:p>
        </p:txBody>
      </p:sp>
      <p:sp>
        <p:nvSpPr>
          <p:cNvPr id="5" name="Shape 3"/>
          <p:cNvSpPr/>
          <p:nvPr/>
        </p:nvSpPr>
        <p:spPr>
          <a:xfrm>
            <a:off x="9921240" y="365760"/>
            <a:ext cx="1828800" cy="292608"/>
          </a:xfrm>
          <a:prstGeom prst="rect">
            <a:avLst/>
          </a:prstGeom>
          <a:solidFill>
            <a:srgbClr val="D7E0E8"/>
          </a:solidFill>
          <a:ln w="12700">
            <a:solidFill>
              <a:srgbClr val="587A9B"/>
            </a:solidFill>
            <a:prstDash val="solid"/>
          </a:ln>
        </p:spPr>
      </p:sp>
      <p:sp>
        <p:nvSpPr>
          <p:cNvPr id="6" name="Text 4"/>
          <p:cNvSpPr/>
          <p:nvPr/>
        </p:nvSpPr>
        <p:spPr>
          <a:xfrm>
            <a:off x="10058400" y="420624"/>
            <a:ext cx="1554480" cy="146304"/>
          </a:xfrm>
          <a:prstGeom prst="rect">
            <a:avLst/>
          </a:prstGeom>
          <a:noFill/>
          <a:ln/>
        </p:spPr>
        <p:txBody>
          <a:bodyPr wrap="square" lIns="0" tIns="0" rIns="0" bIns="0" rtlCol="0" anchor="ctr"/>
          <a:lstStyle/>
          <a:p>
            <a:pPr marL="0" indent="0" algn="ctr">
              <a:buNone/>
            </a:pPr>
            <a:r>
              <a:rPr lang="en-US" sz="800" b="1" dirty="0">
                <a:solidFill>
                  <a:srgbClr val="233446"/>
                </a:solidFill>
                <a:latin typeface="Avenir Next" pitchFamily="34" charset="0"/>
                <a:ea typeface="Avenir Next" pitchFamily="34" charset="-122"/>
                <a:cs typeface="Avenir Next" pitchFamily="34" charset="-120"/>
              </a:rPr>
              <a:t>Slide 1 / 3</a:t>
            </a:r>
            <a:endParaRPr lang="en-US" sz="800" dirty="0"/>
          </a:p>
        </p:txBody>
      </p:sp>
      <p:sp>
        <p:nvSpPr>
          <p:cNvPr id="7" name="Shape 5"/>
          <p:cNvSpPr/>
          <p:nvPr/>
        </p:nvSpPr>
        <p:spPr>
          <a:xfrm>
            <a:off x="457200" y="1143000"/>
            <a:ext cx="5486400" cy="4892040"/>
          </a:xfrm>
          <a:prstGeom prst="rect">
            <a:avLst/>
          </a:prstGeom>
          <a:solidFill>
            <a:srgbClr val="FFFDF9"/>
          </a:solidFill>
          <a:ln w="12700">
            <a:solidFill>
              <a:srgbClr val="D4C6B2"/>
            </a:solidFill>
            <a:prstDash val="solid"/>
          </a:ln>
        </p:spPr>
      </p:sp>
      <p:sp>
        <p:nvSpPr>
          <p:cNvPr id="8" name="Shape 6"/>
          <p:cNvSpPr/>
          <p:nvPr/>
        </p:nvSpPr>
        <p:spPr>
          <a:xfrm>
            <a:off x="457200" y="1143000"/>
            <a:ext cx="5486400" cy="310896"/>
          </a:xfrm>
          <a:prstGeom prst="rect">
            <a:avLst/>
          </a:prstGeom>
          <a:solidFill>
            <a:srgbClr val="E6D9C6"/>
          </a:solidFill>
          <a:ln w="12700">
            <a:solidFill>
              <a:srgbClr val="A6513D">
                <a:alpha val="0"/>
              </a:srgbClr>
            </a:solidFill>
            <a:prstDash val="solid"/>
          </a:ln>
        </p:spPr>
      </p:sp>
      <p:sp>
        <p:nvSpPr>
          <p:cNvPr id="9" name="Text 7"/>
          <p:cNvSpPr/>
          <p:nvPr/>
        </p:nvSpPr>
        <p:spPr>
          <a:xfrm>
            <a:off x="621792"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de Vaucouleurs</a:t>
            </a:r>
            <a:endParaRPr lang="en-US" sz="1100" dirty="0"/>
          </a:p>
        </p:txBody>
      </p:sp>
      <p:sp>
        <p:nvSpPr>
          <p:cNvPr id="10" name="Text 8"/>
          <p:cNvSpPr/>
          <p:nvPr/>
        </p:nvSpPr>
        <p:spPr>
          <a:xfrm>
            <a:off x="3474720"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20260308_215643_devauc_devauc_prod_20260308</a:t>
            </a:r>
            <a:endParaRPr lang="en-US" sz="750" dirty="0"/>
          </a:p>
        </p:txBody>
      </p:sp>
      <p:sp>
        <p:nvSpPr>
          <p:cNvPr id="11" name="Shape 9"/>
          <p:cNvSpPr/>
          <p:nvPr/>
        </p:nvSpPr>
        <p:spPr>
          <a:xfrm>
            <a:off x="6245352" y="1143000"/>
            <a:ext cx="5486400" cy="4892040"/>
          </a:xfrm>
          <a:prstGeom prst="rect">
            <a:avLst/>
          </a:prstGeom>
          <a:solidFill>
            <a:srgbClr val="FFFDF9"/>
          </a:solidFill>
          <a:ln w="12700">
            <a:solidFill>
              <a:srgbClr val="D4C6B2"/>
            </a:solidFill>
            <a:prstDash val="solid"/>
          </a:ln>
        </p:spPr>
      </p:sp>
      <p:sp>
        <p:nvSpPr>
          <p:cNvPr id="12" name="Shape 10"/>
          <p:cNvSpPr/>
          <p:nvPr/>
        </p:nvSpPr>
        <p:spPr>
          <a:xfrm>
            <a:off x="6245352" y="1143000"/>
            <a:ext cx="5486400" cy="310896"/>
          </a:xfrm>
          <a:prstGeom prst="rect">
            <a:avLst/>
          </a:prstGeom>
          <a:solidFill>
            <a:srgbClr val="E6D9C6"/>
          </a:solidFill>
          <a:ln w="12700">
            <a:solidFill>
              <a:srgbClr val="A6513D">
                <a:alpha val="0"/>
              </a:srgbClr>
            </a:solidFill>
            <a:prstDash val="solid"/>
          </a:ln>
        </p:spPr>
      </p:sp>
      <p:sp>
        <p:nvSpPr>
          <p:cNvPr id="13" name="Text 11"/>
          <p:cNvSpPr/>
          <p:nvPr/>
        </p:nvSpPr>
        <p:spPr>
          <a:xfrm>
            <a:off x="6409944"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Sersic</a:t>
            </a:r>
            <a:endParaRPr lang="en-US" sz="1100" dirty="0"/>
          </a:p>
        </p:txBody>
      </p:sp>
      <p:sp>
        <p:nvSpPr>
          <p:cNvPr id="14" name="Text 12"/>
          <p:cNvSpPr/>
          <p:nvPr/>
        </p:nvSpPr>
        <p:spPr>
          <a:xfrm>
            <a:off x="9262872"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20260308_221211_sersic_sersic_prod_20260308</a:t>
            </a:r>
            <a:endParaRPr lang="en-US" sz="750" dirty="0"/>
          </a:p>
        </p:txBody>
      </p:sp>
      <p:pic>
        <p:nvPicPr>
          <p:cNvPr id="15" name="Image 0" descr="/Users/liurongfu/Work/CMASS_lens_project/Posterior_predictive_test/ppt_20260311_profile_summary/assets/devauc_posterior_corner_trimmed.png"/>
          <p:cNvPicPr>
            <a:picLocks noChangeAspect="1"/>
          </p:cNvPicPr>
          <p:nvPr/>
        </p:nvPicPr>
        <p:blipFill>
          <a:blip r:embed="rId3"/>
          <a:stretch>
            <a:fillRect/>
          </a:stretch>
        </p:blipFill>
        <p:spPr>
          <a:xfrm>
            <a:off x="1152008" y="1563624"/>
            <a:ext cx="4096784" cy="4133088"/>
          </a:xfrm>
          <a:prstGeom prst="rect">
            <a:avLst/>
          </a:prstGeom>
        </p:spPr>
      </p:pic>
      <p:pic>
        <p:nvPicPr>
          <p:cNvPr id="16" name="Image 1" descr="/Users/liurongfu/Work/CMASS_lens_project/Posterior_predictive_test/ppt_20260311_profile_summary/assets/sersic_posterior_corner_trimmed.png"/>
          <p:cNvPicPr>
            <a:picLocks noChangeAspect="1"/>
          </p:cNvPicPr>
          <p:nvPr/>
        </p:nvPicPr>
        <p:blipFill>
          <a:blip r:embed="rId4"/>
          <a:stretch>
            <a:fillRect/>
          </a:stretch>
        </p:blipFill>
        <p:spPr>
          <a:xfrm>
            <a:off x="6884261" y="1563624"/>
            <a:ext cx="4208582" cy="4133088"/>
          </a:xfrm>
          <a:prstGeom prst="rect">
            <a:avLst/>
          </a:prstGeom>
        </p:spPr>
      </p:pic>
      <p:sp>
        <p:nvSpPr>
          <p:cNvPr id="17" name="Text 13"/>
          <p:cNvSpPr/>
          <p:nvPr/>
        </p:nvSpPr>
        <p:spPr>
          <a:xfrm>
            <a:off x="640080" y="5715000"/>
            <a:ext cx="5120640" cy="310896"/>
          </a:xfrm>
          <a:prstGeom prst="rect">
            <a:avLst/>
          </a:prstGeom>
          <a:noFill/>
          <a:ln/>
        </p:spPr>
        <p:txBody>
          <a:bodyPr wrap="square" lIns="0" tIns="0" rIns="0" bIns="0" rtlCol="0" anchor="ctr"/>
          <a:lstStyle/>
          <a:p>
            <a:pPr marL="0" indent="0" algn="ctr">
              <a:buNone/>
            </a:pPr>
            <a:r>
              <a:rPr lang="en-US" sz="920" dirty="0">
                <a:solidFill>
                  <a:srgbClr val="6E6253"/>
                </a:solidFill>
                <a:latin typeface="Avenir Next" pitchFamily="34" charset="0"/>
                <a:ea typeface="Avenir Next" pitchFamily="34" charset="-122"/>
                <a:cs typeface="Avenir Next" pitchFamily="34" charset="-120"/>
              </a:rPr>
              <a:t>Profile-specific model note: n is fixed to 4 in the de Vaucouleurs branch.</a:t>
            </a:r>
            <a:endParaRPr lang="en-US" sz="920" dirty="0"/>
          </a:p>
        </p:txBody>
      </p:sp>
      <p:sp>
        <p:nvSpPr>
          <p:cNvPr id="18" name="Text 14"/>
          <p:cNvSpPr/>
          <p:nvPr/>
        </p:nvSpPr>
        <p:spPr>
          <a:xfrm>
            <a:off x="6428232" y="5715000"/>
            <a:ext cx="5120640" cy="310896"/>
          </a:xfrm>
          <a:prstGeom prst="rect">
            <a:avLst/>
          </a:prstGeom>
          <a:noFill/>
          <a:ln/>
        </p:spPr>
        <p:txBody>
          <a:bodyPr wrap="square" lIns="0" tIns="0" rIns="0" bIns="0" rtlCol="0" anchor="ctr"/>
          <a:lstStyle/>
          <a:p>
            <a:pPr marL="0" indent="0" algn="ctr">
              <a:buNone/>
            </a:pPr>
            <a:r>
              <a:rPr lang="en-US" sz="920" dirty="0">
                <a:solidFill>
                  <a:srgbClr val="6E6253"/>
                </a:solidFill>
                <a:latin typeface="Avenir Next" pitchFamily="34" charset="0"/>
                <a:ea typeface="Avenir Next" pitchFamily="34" charset="-122"/>
                <a:cs typeface="Avenir Next" pitchFamily="34" charset="-120"/>
              </a:rPr>
              <a:t>Profile-specific model note: Sersic carries n-dependent structure in the full workflow.</a:t>
            </a:r>
            <a:endParaRPr lang="en-US" sz="920" dirty="0"/>
          </a:p>
        </p:txBody>
      </p:sp>
      <p:sp>
        <p:nvSpPr>
          <p:cNvPr id="19" name="Shape 15"/>
          <p:cNvSpPr/>
          <p:nvPr/>
        </p:nvSpPr>
        <p:spPr>
          <a:xfrm>
            <a:off x="457200" y="6236208"/>
            <a:ext cx="11274552" cy="384048"/>
          </a:xfrm>
          <a:prstGeom prst="rect">
            <a:avLst/>
          </a:prstGeom>
          <a:solidFill>
            <a:srgbClr val="EFE6D8"/>
          </a:solidFill>
          <a:ln w="12700">
            <a:solidFill>
              <a:srgbClr val="D4C6B2"/>
            </a:solidFill>
            <a:prstDash val="solid"/>
          </a:ln>
        </p:spPr>
      </p:sp>
      <p:sp>
        <p:nvSpPr>
          <p:cNvPr id="20" name="Text 16"/>
          <p:cNvSpPr/>
          <p:nvPr/>
        </p:nvSpPr>
        <p:spPr>
          <a:xfrm>
            <a:off x="621792" y="6345936"/>
            <a:ext cx="10927080" cy="128016"/>
          </a:xfrm>
          <a:prstGeom prst="rect">
            <a:avLst/>
          </a:prstGeom>
          <a:noFill/>
          <a:ln/>
        </p:spPr>
        <p:txBody>
          <a:bodyPr wrap="square" lIns="0" tIns="0" rIns="0" bIns="0" rtlCol="0" anchor="ctr"/>
          <a:lstStyle/>
          <a:p>
            <a:pPr marL="0" indent="0" algn="ctr">
              <a:buNone/>
            </a:pPr>
            <a:r>
              <a:rPr lang="en-US" sz="850" dirty="0">
                <a:solidFill>
                  <a:srgbClr val="6E6253"/>
                </a:solidFill>
                <a:latin typeface="Avenir Next" pitchFamily="34" charset="0"/>
                <a:ea typeface="Avenir Next" pitchFamily="34" charset="-122"/>
                <a:cs typeface="Avenir Next" pitchFamily="34" charset="-120"/>
              </a:rPr>
              <a:t>Shared 12D hyper-parameter family; profile difference enters through the light-profile treatment. These exact runs are the sources for the canonical PPC and Fig. 8-like summaries shown next.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233446"/>
          </a:solidFill>
          <a:ln w="12700">
            <a:solidFill>
              <a:srgbClr val="F5F0E8">
                <a:alpha val="0"/>
              </a:srgbClr>
            </a:solidFill>
            <a:prstDash val="solid"/>
          </a:ln>
        </p:spPr>
      </p:sp>
      <p:sp>
        <p:nvSpPr>
          <p:cNvPr id="3" name="Text 1"/>
          <p:cNvSpPr/>
          <p:nvPr/>
        </p:nvSpPr>
        <p:spPr>
          <a:xfrm>
            <a:off x="438912" y="384048"/>
            <a:ext cx="8412480" cy="347472"/>
          </a:xfrm>
          <a:prstGeom prst="rect">
            <a:avLst/>
          </a:prstGeom>
          <a:noFill/>
          <a:ln/>
        </p:spPr>
        <p:txBody>
          <a:bodyPr wrap="square" lIns="0" tIns="0" rIns="0" bIns="0" rtlCol="0" anchor="ctr"/>
          <a:lstStyle/>
          <a:p>
            <a:pPr marL="0" indent="0">
              <a:buNone/>
            </a:pPr>
            <a:r>
              <a:rPr lang="en-US" sz="2200" b="1" dirty="0">
                <a:solidFill>
                  <a:srgbClr val="233446"/>
                </a:solidFill>
                <a:latin typeface="Avenir Next" pitchFamily="34" charset="0"/>
                <a:ea typeface="Avenir Next" pitchFamily="34" charset="-122"/>
                <a:cs typeface="Avenir Next" pitchFamily="34" charset="-120"/>
              </a:rPr>
              <a:t>Canonical Posterior Predictive Check</a:t>
            </a:r>
            <a:endParaRPr lang="en-US" sz="2200" dirty="0"/>
          </a:p>
        </p:txBody>
      </p:sp>
      <p:sp>
        <p:nvSpPr>
          <p:cNvPr id="4" name="Text 2"/>
          <p:cNvSpPr/>
          <p:nvPr/>
        </p:nvSpPr>
        <p:spPr>
          <a:xfrm>
            <a:off x="457200" y="758952"/>
            <a:ext cx="9326880" cy="274320"/>
          </a:xfrm>
          <a:prstGeom prst="rect">
            <a:avLst/>
          </a:prstGeom>
          <a:noFill/>
          <a:ln/>
        </p:spPr>
        <p:txBody>
          <a:bodyPr wrap="square" lIns="0" tIns="0" rIns="0" bIns="0" rtlCol="0" anchor="ctr"/>
          <a:lstStyle/>
          <a:p>
            <a:pPr marL="0" indent="0">
              <a:buNone/>
            </a:pPr>
            <a:r>
              <a:rPr lang="en-US" sz="900" dirty="0">
                <a:solidFill>
                  <a:srgbClr val="6E6253"/>
                </a:solidFill>
                <a:latin typeface="Avenir Next" pitchFamily="34" charset="0"/>
                <a:ea typeface="Avenir Next" pitchFamily="34" charset="-122"/>
                <a:cs typeface="Avenir Next" pitchFamily="34" charset="-120"/>
              </a:rPr>
              <a:t>2026-03-10 canonical rerun: tail-capped full chain, burn-in 2000, 192000 posterior draws, candidate pool 100000, process-pool workers 12.</a:t>
            </a:r>
            <a:endParaRPr lang="en-US" sz="900" dirty="0"/>
          </a:p>
        </p:txBody>
      </p:sp>
      <p:sp>
        <p:nvSpPr>
          <p:cNvPr id="5" name="Shape 3"/>
          <p:cNvSpPr/>
          <p:nvPr/>
        </p:nvSpPr>
        <p:spPr>
          <a:xfrm>
            <a:off x="9921240" y="365760"/>
            <a:ext cx="1828800" cy="292608"/>
          </a:xfrm>
          <a:prstGeom prst="rect">
            <a:avLst/>
          </a:prstGeom>
          <a:solidFill>
            <a:srgbClr val="D7E0E8"/>
          </a:solidFill>
          <a:ln w="12700">
            <a:solidFill>
              <a:srgbClr val="587A9B"/>
            </a:solidFill>
            <a:prstDash val="solid"/>
          </a:ln>
        </p:spPr>
      </p:sp>
      <p:sp>
        <p:nvSpPr>
          <p:cNvPr id="6" name="Text 4"/>
          <p:cNvSpPr/>
          <p:nvPr/>
        </p:nvSpPr>
        <p:spPr>
          <a:xfrm>
            <a:off x="10058400" y="420624"/>
            <a:ext cx="1554480" cy="146304"/>
          </a:xfrm>
          <a:prstGeom prst="rect">
            <a:avLst/>
          </a:prstGeom>
          <a:noFill/>
          <a:ln/>
        </p:spPr>
        <p:txBody>
          <a:bodyPr wrap="square" lIns="0" tIns="0" rIns="0" bIns="0" rtlCol="0" anchor="ctr"/>
          <a:lstStyle/>
          <a:p>
            <a:pPr marL="0" indent="0" algn="ctr">
              <a:buNone/>
            </a:pPr>
            <a:r>
              <a:rPr lang="en-US" sz="800" b="1" dirty="0">
                <a:solidFill>
                  <a:srgbClr val="233446"/>
                </a:solidFill>
                <a:latin typeface="Avenir Next" pitchFamily="34" charset="0"/>
                <a:ea typeface="Avenir Next" pitchFamily="34" charset="-122"/>
                <a:cs typeface="Avenir Next" pitchFamily="34" charset="-120"/>
              </a:rPr>
              <a:t>Slide 2 / 3</a:t>
            </a:r>
            <a:endParaRPr lang="en-US" sz="800" dirty="0"/>
          </a:p>
        </p:txBody>
      </p:sp>
      <p:sp>
        <p:nvSpPr>
          <p:cNvPr id="7" name="Shape 5"/>
          <p:cNvSpPr/>
          <p:nvPr/>
        </p:nvSpPr>
        <p:spPr>
          <a:xfrm>
            <a:off x="457200" y="1143000"/>
            <a:ext cx="5486400" cy="4892040"/>
          </a:xfrm>
          <a:prstGeom prst="rect">
            <a:avLst/>
          </a:prstGeom>
          <a:solidFill>
            <a:srgbClr val="FFFDF9"/>
          </a:solidFill>
          <a:ln w="12700">
            <a:solidFill>
              <a:srgbClr val="D4C6B2"/>
            </a:solidFill>
            <a:prstDash val="solid"/>
          </a:ln>
        </p:spPr>
      </p:sp>
      <p:sp>
        <p:nvSpPr>
          <p:cNvPr id="8" name="Shape 6"/>
          <p:cNvSpPr/>
          <p:nvPr/>
        </p:nvSpPr>
        <p:spPr>
          <a:xfrm>
            <a:off x="457200" y="1143000"/>
            <a:ext cx="5486400" cy="310896"/>
          </a:xfrm>
          <a:prstGeom prst="rect">
            <a:avLst/>
          </a:prstGeom>
          <a:solidFill>
            <a:srgbClr val="E6D9C6"/>
          </a:solidFill>
          <a:ln w="12700">
            <a:solidFill>
              <a:srgbClr val="A6513D">
                <a:alpha val="0"/>
              </a:srgbClr>
            </a:solidFill>
            <a:prstDash val="solid"/>
          </a:ln>
        </p:spPr>
      </p:sp>
      <p:sp>
        <p:nvSpPr>
          <p:cNvPr id="9" name="Text 7"/>
          <p:cNvSpPr/>
          <p:nvPr/>
        </p:nvSpPr>
        <p:spPr>
          <a:xfrm>
            <a:off x="621792"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de Vaucouleurs</a:t>
            </a:r>
            <a:endParaRPr lang="en-US" sz="1100" dirty="0"/>
          </a:p>
        </p:txBody>
      </p:sp>
      <p:sp>
        <p:nvSpPr>
          <p:cNvPr id="10" name="Text 8"/>
          <p:cNvSpPr/>
          <p:nvPr/>
        </p:nvSpPr>
        <p:spPr>
          <a:xfrm>
            <a:off x="3474720"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20260308_215643_devauc_devauc_prod_20260308</a:t>
            </a:r>
            <a:endParaRPr lang="en-US" sz="750" dirty="0"/>
          </a:p>
        </p:txBody>
      </p:sp>
      <p:sp>
        <p:nvSpPr>
          <p:cNvPr id="11" name="Shape 9"/>
          <p:cNvSpPr/>
          <p:nvPr/>
        </p:nvSpPr>
        <p:spPr>
          <a:xfrm>
            <a:off x="6245352" y="1143000"/>
            <a:ext cx="5486400" cy="4892040"/>
          </a:xfrm>
          <a:prstGeom prst="rect">
            <a:avLst/>
          </a:prstGeom>
          <a:solidFill>
            <a:srgbClr val="FFFDF9"/>
          </a:solidFill>
          <a:ln w="12700">
            <a:solidFill>
              <a:srgbClr val="D4C6B2"/>
            </a:solidFill>
            <a:prstDash val="solid"/>
          </a:ln>
        </p:spPr>
      </p:sp>
      <p:sp>
        <p:nvSpPr>
          <p:cNvPr id="12" name="Shape 10"/>
          <p:cNvSpPr/>
          <p:nvPr/>
        </p:nvSpPr>
        <p:spPr>
          <a:xfrm>
            <a:off x="6245352" y="1143000"/>
            <a:ext cx="5486400" cy="310896"/>
          </a:xfrm>
          <a:prstGeom prst="rect">
            <a:avLst/>
          </a:prstGeom>
          <a:solidFill>
            <a:srgbClr val="E6D9C6"/>
          </a:solidFill>
          <a:ln w="12700">
            <a:solidFill>
              <a:srgbClr val="A6513D">
                <a:alpha val="0"/>
              </a:srgbClr>
            </a:solidFill>
            <a:prstDash val="solid"/>
          </a:ln>
        </p:spPr>
      </p:sp>
      <p:sp>
        <p:nvSpPr>
          <p:cNvPr id="13" name="Text 11"/>
          <p:cNvSpPr/>
          <p:nvPr/>
        </p:nvSpPr>
        <p:spPr>
          <a:xfrm>
            <a:off x="6409944"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Sersic</a:t>
            </a:r>
            <a:endParaRPr lang="en-US" sz="1100" dirty="0"/>
          </a:p>
        </p:txBody>
      </p:sp>
      <p:sp>
        <p:nvSpPr>
          <p:cNvPr id="14" name="Text 12"/>
          <p:cNvSpPr/>
          <p:nvPr/>
        </p:nvSpPr>
        <p:spPr>
          <a:xfrm>
            <a:off x="9262872"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20260308_221211_sersic_sersic_prod_20260308</a:t>
            </a:r>
            <a:endParaRPr lang="en-US" sz="750" dirty="0"/>
          </a:p>
        </p:txBody>
      </p:sp>
      <p:pic>
        <p:nvPicPr>
          <p:cNvPr id="15" name="Image 0" descr="/Users/liurongfu/Work/CMASS_lens_project/Posterior_predictive_test/results/devauc/20260308_215643_devauc_devauc_prod_20260308/ppc_overview.png"/>
          <p:cNvPicPr>
            <a:picLocks noChangeAspect="1"/>
          </p:cNvPicPr>
          <p:nvPr/>
        </p:nvPicPr>
        <p:blipFill>
          <a:blip r:embed="rId3"/>
          <a:stretch>
            <a:fillRect/>
          </a:stretch>
        </p:blipFill>
        <p:spPr>
          <a:xfrm>
            <a:off x="566928" y="1632204"/>
            <a:ext cx="5266944" cy="2633472"/>
          </a:xfrm>
          <a:prstGeom prst="rect">
            <a:avLst/>
          </a:prstGeom>
        </p:spPr>
      </p:pic>
      <p:pic>
        <p:nvPicPr>
          <p:cNvPr id="16" name="Image 1" descr="/Users/liurongfu/Work/CMASS_lens_project/Posterior_predictive_test/results/sersic/20260308_221211_sersic_sersic_prod_20260308/ppc_overview.png"/>
          <p:cNvPicPr>
            <a:picLocks noChangeAspect="1"/>
          </p:cNvPicPr>
          <p:nvPr/>
        </p:nvPicPr>
        <p:blipFill>
          <a:blip r:embed="rId4"/>
          <a:stretch>
            <a:fillRect/>
          </a:stretch>
        </p:blipFill>
        <p:spPr>
          <a:xfrm>
            <a:off x="6355080" y="1632204"/>
            <a:ext cx="5266944" cy="2633472"/>
          </a:xfrm>
          <a:prstGeom prst="rect">
            <a:avLst/>
          </a:prstGeom>
        </p:spPr>
      </p:pic>
      <p:sp>
        <p:nvSpPr>
          <p:cNvPr id="17" name="Shape 13"/>
          <p:cNvSpPr/>
          <p:nvPr/>
        </p:nvSpPr>
        <p:spPr>
          <a:xfrm>
            <a:off x="594360" y="4489704"/>
            <a:ext cx="5212080" cy="1298448"/>
          </a:xfrm>
          <a:prstGeom prst="rect">
            <a:avLst/>
          </a:prstGeom>
          <a:solidFill>
            <a:srgbClr val="FBF7F0"/>
          </a:solidFill>
          <a:ln w="12700">
            <a:solidFill>
              <a:srgbClr val="D4C6B2"/>
            </a:solidFill>
            <a:prstDash val="solid"/>
          </a:ln>
        </p:spPr>
      </p:sp>
      <p:sp>
        <p:nvSpPr>
          <p:cNvPr id="18" name="Shape 14"/>
          <p:cNvSpPr/>
          <p:nvPr/>
        </p:nvSpPr>
        <p:spPr>
          <a:xfrm>
            <a:off x="6382512" y="4489704"/>
            <a:ext cx="5212080" cy="1298448"/>
          </a:xfrm>
          <a:prstGeom prst="rect">
            <a:avLst/>
          </a:prstGeom>
          <a:solidFill>
            <a:srgbClr val="FBF7F0"/>
          </a:solidFill>
          <a:ln w="12700">
            <a:solidFill>
              <a:srgbClr val="D4C6B2"/>
            </a:solidFill>
            <a:prstDash val="solid"/>
          </a:ln>
        </p:spPr>
      </p:sp>
      <p:sp>
        <p:nvSpPr>
          <p:cNvPr id="19" name="Text 15"/>
          <p:cNvSpPr/>
          <p:nvPr/>
        </p:nvSpPr>
        <p:spPr>
          <a:xfrm>
            <a:off x="713232" y="4645152"/>
            <a:ext cx="4974336" cy="969264"/>
          </a:xfrm>
          <a:prstGeom prst="rect">
            <a:avLst/>
          </a:prstGeom>
          <a:noFill/>
          <a:ln/>
        </p:spPr>
        <p:txBody>
          <a:bodyPr wrap="square" lIns="0" tIns="0" rIns="0" bIns="0" rtlCol="0" anchor="t">
            <a:normAutofit/>
          </a:bodyPr>
          <a:lstStyle/>
          <a:p>
            <a:pPr marL="0" indent="0">
              <a:buNone/>
            </a:pPr>
            <a:r>
              <a:rPr lang="en-US" sz="930" dirty="0">
                <a:solidFill>
                  <a:srgbClr val="233446"/>
                </a:solidFill>
                <a:latin typeface="Avenir Next" pitchFamily="34" charset="0"/>
                <a:ea typeface="Avenir Next" pitchFamily="34" charset="-122"/>
                <a:cs typeface="Avenir Next" pitchFamily="34" charset="-120"/>
              </a:rPr>
              <a:t>theta_E median at 41.3% of the replicated distribution.</a:t>
            </a:r>
            <a:endParaRPr lang="en-US" sz="930" dirty="0"/>
          </a:p>
          <a:p>
            <a:pPr marL="0" indent="0">
              <a:buNone/>
            </a:pPr>
            <a:r>
              <a:rPr lang="en-US" sz="930" dirty="0">
                <a:solidFill>
                  <a:srgbClr val="233446"/>
                </a:solidFill>
                <a:latin typeface="Avenir Next" pitchFamily="34" charset="0"/>
                <a:ea typeface="Avenir Next" pitchFamily="34" charset="-122"/>
                <a:cs typeface="Avenir Next" pitchFamily="34" charset="-120"/>
              </a:rPr>
              <a:t>sigma median at 61.4%; central location is reproduced well.</a:t>
            </a:r>
            <a:endParaRPr lang="en-US" sz="930" dirty="0"/>
          </a:p>
          <a:p>
            <a:pPr marL="0" indent="0">
              <a:buNone/>
            </a:pPr>
            <a:r>
              <a:rPr lang="en-US" sz="930" dirty="0">
                <a:solidFill>
                  <a:srgbClr val="233446"/>
                </a:solidFill>
                <a:latin typeface="Avenir Next" pitchFamily="34" charset="0"/>
                <a:ea typeface="Avenir Next" pitchFamily="34" charset="-122"/>
                <a:cs typeface="Avenir Next" pitchFamily="34" charset="-120"/>
              </a:rPr>
              <a:t>sigma std is the strongest mismatch: observed sits at the 1.7% left-tail percentile.</a:t>
            </a:r>
            <a:endParaRPr lang="en-US" sz="930" dirty="0"/>
          </a:p>
        </p:txBody>
      </p:sp>
      <p:sp>
        <p:nvSpPr>
          <p:cNvPr id="20" name="Text 16"/>
          <p:cNvSpPr/>
          <p:nvPr/>
        </p:nvSpPr>
        <p:spPr>
          <a:xfrm>
            <a:off x="6501384" y="4645152"/>
            <a:ext cx="4974336" cy="969264"/>
          </a:xfrm>
          <a:prstGeom prst="rect">
            <a:avLst/>
          </a:prstGeom>
          <a:noFill/>
          <a:ln/>
        </p:spPr>
        <p:txBody>
          <a:bodyPr wrap="square" lIns="0" tIns="0" rIns="0" bIns="0" rtlCol="0" anchor="t">
            <a:normAutofit/>
          </a:bodyPr>
          <a:lstStyle/>
          <a:p>
            <a:pPr marL="0" indent="0">
              <a:buNone/>
            </a:pPr>
            <a:r>
              <a:rPr lang="en-US" sz="930" dirty="0">
                <a:solidFill>
                  <a:srgbClr val="233446"/>
                </a:solidFill>
                <a:latin typeface="Avenir Next" pitchFamily="34" charset="0"/>
                <a:ea typeface="Avenir Next" pitchFamily="34" charset="-122"/>
                <a:cs typeface="Avenir Next" pitchFamily="34" charset="-120"/>
              </a:rPr>
              <a:t>theta_E median at 45.7% of the replicated distribution.</a:t>
            </a:r>
            <a:endParaRPr lang="en-US" sz="930" dirty="0"/>
          </a:p>
          <a:p>
            <a:pPr marL="0" indent="0">
              <a:buNone/>
            </a:pPr>
            <a:r>
              <a:rPr lang="en-US" sz="930" dirty="0">
                <a:solidFill>
                  <a:srgbClr val="233446"/>
                </a:solidFill>
                <a:latin typeface="Avenir Next" pitchFamily="34" charset="0"/>
                <a:ea typeface="Avenir Next" pitchFamily="34" charset="-122"/>
                <a:cs typeface="Avenir Next" pitchFamily="34" charset="-120"/>
              </a:rPr>
              <a:t>sigma median at 55.0%; central location is reproduced well.</a:t>
            </a:r>
            <a:endParaRPr lang="en-US" sz="930" dirty="0"/>
          </a:p>
          <a:p>
            <a:pPr marL="0" indent="0">
              <a:buNone/>
            </a:pPr>
            <a:r>
              <a:rPr lang="en-US" sz="930" dirty="0">
                <a:solidFill>
                  <a:srgbClr val="233446"/>
                </a:solidFill>
                <a:latin typeface="Avenir Next" pitchFamily="34" charset="0"/>
                <a:ea typeface="Avenir Next" pitchFamily="34" charset="-122"/>
                <a:cs typeface="Avenir Next" pitchFamily="34" charset="-120"/>
              </a:rPr>
              <a:t>sigma std is the strongest mismatch: observed sits at the 4.8% left-tail percentile.</a:t>
            </a:r>
            <a:endParaRPr lang="en-US" sz="930" dirty="0"/>
          </a:p>
        </p:txBody>
      </p:sp>
      <p:sp>
        <p:nvSpPr>
          <p:cNvPr id="21" name="Shape 17"/>
          <p:cNvSpPr/>
          <p:nvPr/>
        </p:nvSpPr>
        <p:spPr>
          <a:xfrm>
            <a:off x="457200" y="6236208"/>
            <a:ext cx="11274552" cy="384048"/>
          </a:xfrm>
          <a:prstGeom prst="rect">
            <a:avLst/>
          </a:prstGeom>
          <a:solidFill>
            <a:srgbClr val="EFE6D8"/>
          </a:solidFill>
          <a:ln w="12700">
            <a:solidFill>
              <a:srgbClr val="D4C6B2"/>
            </a:solidFill>
            <a:prstDash val="solid"/>
          </a:ln>
        </p:spPr>
      </p:sp>
      <p:sp>
        <p:nvSpPr>
          <p:cNvPr id="22" name="Text 18"/>
          <p:cNvSpPr/>
          <p:nvPr/>
        </p:nvSpPr>
        <p:spPr>
          <a:xfrm>
            <a:off x="621792" y="6345936"/>
            <a:ext cx="10927080" cy="128016"/>
          </a:xfrm>
          <a:prstGeom prst="rect">
            <a:avLst/>
          </a:prstGeom>
          <a:noFill/>
          <a:ln/>
        </p:spPr>
        <p:txBody>
          <a:bodyPr wrap="square" lIns="0" tIns="0" rIns="0" bIns="0" rtlCol="0" anchor="ctr"/>
          <a:lstStyle/>
          <a:p>
            <a:pPr marL="0" indent="0" algn="ctr">
              <a:buNone/>
            </a:pPr>
            <a:r>
              <a:rPr lang="en-US" sz="850" dirty="0">
                <a:solidFill>
                  <a:srgbClr val="6E6253"/>
                </a:solidFill>
                <a:latin typeface="Avenir Next" pitchFamily="34" charset="0"/>
                <a:ea typeface="Avenir Next" pitchFamily="34" charset="-122"/>
                <a:cs typeface="Avenir Next" pitchFamily="34" charset="-120"/>
              </a:rPr>
              <a:t>Observed medians land near the bulk of the replicated distributions for both profiles. The most persistent tension is the unusually small observed sigma scatter relative to the replicated sigma std panel.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233446"/>
          </a:solidFill>
          <a:ln w="12700">
            <a:solidFill>
              <a:srgbClr val="F5F0E8">
                <a:alpha val="0"/>
              </a:srgbClr>
            </a:solidFill>
            <a:prstDash val="solid"/>
          </a:ln>
        </p:spPr>
      </p:sp>
      <p:sp>
        <p:nvSpPr>
          <p:cNvPr id="3" name="Text 1"/>
          <p:cNvSpPr/>
          <p:nvPr/>
        </p:nvSpPr>
        <p:spPr>
          <a:xfrm>
            <a:off x="438912" y="384048"/>
            <a:ext cx="8412480" cy="347472"/>
          </a:xfrm>
          <a:prstGeom prst="rect">
            <a:avLst/>
          </a:prstGeom>
          <a:noFill/>
          <a:ln/>
        </p:spPr>
        <p:txBody>
          <a:bodyPr wrap="square" lIns="0" tIns="0" rIns="0" bIns="0" rtlCol="0" anchor="ctr"/>
          <a:lstStyle/>
          <a:p>
            <a:pPr marL="0" indent="0">
              <a:buNone/>
            </a:pPr>
            <a:r>
              <a:rPr lang="en-US" sz="2200" b="1" dirty="0">
                <a:solidFill>
                  <a:srgbClr val="233446"/>
                </a:solidFill>
                <a:latin typeface="Avenir Next" pitchFamily="34" charset="0"/>
                <a:ea typeface="Avenir Next" pitchFamily="34" charset="-122"/>
                <a:cs typeface="Avenir Next" pitchFamily="34" charset="-120"/>
              </a:rPr>
              <a:t>Fig. 8-like Posterior Trends</a:t>
            </a:r>
            <a:endParaRPr lang="en-US" sz="2200" dirty="0"/>
          </a:p>
        </p:txBody>
      </p:sp>
      <p:sp>
        <p:nvSpPr>
          <p:cNvPr id="4" name="Text 2"/>
          <p:cNvSpPr/>
          <p:nvPr/>
        </p:nvSpPr>
        <p:spPr>
          <a:xfrm>
            <a:off x="457200" y="758952"/>
            <a:ext cx="9326880" cy="274320"/>
          </a:xfrm>
          <a:prstGeom prst="rect">
            <a:avLst/>
          </a:prstGeom>
          <a:noFill/>
          <a:ln/>
        </p:spPr>
        <p:txBody>
          <a:bodyPr wrap="square" lIns="0" tIns="0" rIns="0" bIns="0" rtlCol="0" anchor="ctr"/>
          <a:lstStyle/>
          <a:p>
            <a:pPr marL="0" indent="0">
              <a:buNone/>
            </a:pPr>
            <a:r>
              <a:rPr lang="en-US" sz="900" dirty="0">
                <a:solidFill>
                  <a:srgbClr val="6E6253"/>
                </a:solidFill>
                <a:latin typeface="Avenir Next" pitchFamily="34" charset="0"/>
                <a:ea typeface="Avenir Next" pitchFamily="34" charset="-122"/>
                <a:cs typeface="Avenir Next" pitchFamily="34" charset="-120"/>
              </a:rPr>
              <a:t>Separate evaluator from histogram PPC: fixed mass-grid conditional means for m5, gamma, and sigma_ap with parent / detectable / SLACS-like selected populations.</a:t>
            </a:r>
            <a:endParaRPr lang="en-US" sz="900" dirty="0"/>
          </a:p>
        </p:txBody>
      </p:sp>
      <p:sp>
        <p:nvSpPr>
          <p:cNvPr id="5" name="Shape 3"/>
          <p:cNvSpPr/>
          <p:nvPr/>
        </p:nvSpPr>
        <p:spPr>
          <a:xfrm>
            <a:off x="9921240" y="365760"/>
            <a:ext cx="1828800" cy="292608"/>
          </a:xfrm>
          <a:prstGeom prst="rect">
            <a:avLst/>
          </a:prstGeom>
          <a:solidFill>
            <a:srgbClr val="D7E0E8"/>
          </a:solidFill>
          <a:ln w="12700">
            <a:solidFill>
              <a:srgbClr val="587A9B"/>
            </a:solidFill>
            <a:prstDash val="solid"/>
          </a:ln>
        </p:spPr>
      </p:sp>
      <p:sp>
        <p:nvSpPr>
          <p:cNvPr id="6" name="Text 4"/>
          <p:cNvSpPr/>
          <p:nvPr/>
        </p:nvSpPr>
        <p:spPr>
          <a:xfrm>
            <a:off x="10058400" y="420624"/>
            <a:ext cx="1554480" cy="146304"/>
          </a:xfrm>
          <a:prstGeom prst="rect">
            <a:avLst/>
          </a:prstGeom>
          <a:noFill/>
          <a:ln/>
        </p:spPr>
        <p:txBody>
          <a:bodyPr wrap="square" lIns="0" tIns="0" rIns="0" bIns="0" rtlCol="0" anchor="ctr"/>
          <a:lstStyle/>
          <a:p>
            <a:pPr marL="0" indent="0" algn="ctr">
              <a:buNone/>
            </a:pPr>
            <a:r>
              <a:rPr lang="en-US" sz="800" b="1" dirty="0">
                <a:solidFill>
                  <a:srgbClr val="233446"/>
                </a:solidFill>
                <a:latin typeface="Avenir Next" pitchFamily="34" charset="0"/>
                <a:ea typeface="Avenir Next" pitchFamily="34" charset="-122"/>
                <a:cs typeface="Avenir Next" pitchFamily="34" charset="-120"/>
              </a:rPr>
              <a:t>Slide 3 / 3</a:t>
            </a:r>
            <a:endParaRPr lang="en-US" sz="800" dirty="0"/>
          </a:p>
        </p:txBody>
      </p:sp>
      <p:sp>
        <p:nvSpPr>
          <p:cNvPr id="7" name="Shape 5"/>
          <p:cNvSpPr/>
          <p:nvPr/>
        </p:nvSpPr>
        <p:spPr>
          <a:xfrm>
            <a:off x="457200" y="1143000"/>
            <a:ext cx="5486400" cy="4892040"/>
          </a:xfrm>
          <a:prstGeom prst="rect">
            <a:avLst/>
          </a:prstGeom>
          <a:solidFill>
            <a:srgbClr val="FFFDF9"/>
          </a:solidFill>
          <a:ln w="12700">
            <a:solidFill>
              <a:srgbClr val="D4C6B2"/>
            </a:solidFill>
            <a:prstDash val="solid"/>
          </a:ln>
        </p:spPr>
      </p:sp>
      <p:sp>
        <p:nvSpPr>
          <p:cNvPr id="8" name="Shape 6"/>
          <p:cNvSpPr/>
          <p:nvPr/>
        </p:nvSpPr>
        <p:spPr>
          <a:xfrm>
            <a:off x="457200" y="1143000"/>
            <a:ext cx="5486400" cy="310896"/>
          </a:xfrm>
          <a:prstGeom prst="rect">
            <a:avLst/>
          </a:prstGeom>
          <a:solidFill>
            <a:srgbClr val="E6D9C6"/>
          </a:solidFill>
          <a:ln w="12700">
            <a:solidFill>
              <a:srgbClr val="A6513D">
                <a:alpha val="0"/>
              </a:srgbClr>
            </a:solidFill>
            <a:prstDash val="solid"/>
          </a:ln>
        </p:spPr>
      </p:sp>
      <p:sp>
        <p:nvSpPr>
          <p:cNvPr id="9" name="Text 7"/>
          <p:cNvSpPr/>
          <p:nvPr/>
        </p:nvSpPr>
        <p:spPr>
          <a:xfrm>
            <a:off x="621792"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de Vaucouleurs</a:t>
            </a:r>
            <a:endParaRPr lang="en-US" sz="1100" dirty="0"/>
          </a:p>
        </p:txBody>
      </p:sp>
      <p:sp>
        <p:nvSpPr>
          <p:cNvPr id="10" name="Text 8"/>
          <p:cNvSpPr/>
          <p:nvPr/>
        </p:nvSpPr>
        <p:spPr>
          <a:xfrm>
            <a:off x="3474720"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20260308_215643_devauc_devauc_prod_20260308</a:t>
            </a:r>
            <a:endParaRPr lang="en-US" sz="750" dirty="0"/>
          </a:p>
        </p:txBody>
      </p:sp>
      <p:sp>
        <p:nvSpPr>
          <p:cNvPr id="11" name="Shape 9"/>
          <p:cNvSpPr/>
          <p:nvPr/>
        </p:nvSpPr>
        <p:spPr>
          <a:xfrm>
            <a:off x="6245352" y="1143000"/>
            <a:ext cx="5486400" cy="4892040"/>
          </a:xfrm>
          <a:prstGeom prst="rect">
            <a:avLst/>
          </a:prstGeom>
          <a:solidFill>
            <a:srgbClr val="FFFDF9"/>
          </a:solidFill>
          <a:ln w="12700">
            <a:solidFill>
              <a:srgbClr val="D4C6B2"/>
            </a:solidFill>
            <a:prstDash val="solid"/>
          </a:ln>
        </p:spPr>
      </p:sp>
      <p:sp>
        <p:nvSpPr>
          <p:cNvPr id="12" name="Shape 10"/>
          <p:cNvSpPr/>
          <p:nvPr/>
        </p:nvSpPr>
        <p:spPr>
          <a:xfrm>
            <a:off x="6245352" y="1134533"/>
            <a:ext cx="5486400" cy="310896"/>
          </a:xfrm>
          <a:prstGeom prst="rect">
            <a:avLst/>
          </a:prstGeom>
          <a:solidFill>
            <a:srgbClr val="E6D9C6"/>
          </a:solidFill>
          <a:ln w="12700">
            <a:solidFill>
              <a:srgbClr val="A6513D">
                <a:alpha val="0"/>
              </a:srgbClr>
            </a:solidFill>
            <a:prstDash val="solid"/>
          </a:ln>
        </p:spPr>
      </p:sp>
      <p:sp>
        <p:nvSpPr>
          <p:cNvPr id="13" name="Text 11"/>
          <p:cNvSpPr/>
          <p:nvPr/>
        </p:nvSpPr>
        <p:spPr>
          <a:xfrm>
            <a:off x="6409944" y="1216152"/>
            <a:ext cx="2103120" cy="164592"/>
          </a:xfrm>
          <a:prstGeom prst="rect">
            <a:avLst/>
          </a:prstGeom>
          <a:noFill/>
          <a:ln/>
        </p:spPr>
        <p:txBody>
          <a:bodyPr wrap="square" lIns="0" tIns="0" rIns="0" bIns="0" rtlCol="0" anchor="ctr"/>
          <a:lstStyle/>
          <a:p>
            <a:pPr marL="0" indent="0">
              <a:buNone/>
            </a:pPr>
            <a:r>
              <a:rPr lang="en-US" sz="1100" b="1" dirty="0">
                <a:solidFill>
                  <a:srgbClr val="233446"/>
                </a:solidFill>
                <a:latin typeface="Avenir Next" pitchFamily="34" charset="0"/>
                <a:ea typeface="Avenir Next" pitchFamily="34" charset="-122"/>
                <a:cs typeface="Avenir Next" pitchFamily="34" charset="-120"/>
              </a:rPr>
              <a:t>Sersic</a:t>
            </a:r>
            <a:endParaRPr lang="en-US" sz="1100" dirty="0"/>
          </a:p>
        </p:txBody>
      </p:sp>
      <p:sp>
        <p:nvSpPr>
          <p:cNvPr id="14" name="Text 12"/>
          <p:cNvSpPr/>
          <p:nvPr/>
        </p:nvSpPr>
        <p:spPr>
          <a:xfrm>
            <a:off x="9262872" y="1225296"/>
            <a:ext cx="2267712" cy="146304"/>
          </a:xfrm>
          <a:prstGeom prst="rect">
            <a:avLst/>
          </a:prstGeom>
          <a:noFill/>
          <a:ln/>
        </p:spPr>
        <p:txBody>
          <a:bodyPr wrap="square" lIns="0" tIns="0" rIns="0" bIns="0" rtlCol="0" anchor="ctr"/>
          <a:lstStyle/>
          <a:p>
            <a:pPr marL="0" indent="0" algn="r">
              <a:buNone/>
            </a:pPr>
            <a:r>
              <a:rPr lang="en-US" sz="750" dirty="0">
                <a:solidFill>
                  <a:srgbClr val="6E6253"/>
                </a:solidFill>
                <a:latin typeface="Avenir Next" pitchFamily="34" charset="0"/>
                <a:ea typeface="Avenir Next" pitchFamily="34" charset="-122"/>
                <a:cs typeface="Avenir Next" pitchFamily="34" charset="-120"/>
              </a:rPr>
              <a:t>20260308_221211_sersic_sersic_prod_20260308</a:t>
            </a:r>
            <a:endParaRPr lang="en-US" sz="750" dirty="0"/>
          </a:p>
        </p:txBody>
      </p:sp>
      <p:pic>
        <p:nvPicPr>
          <p:cNvPr id="15" name="Image 0" descr="/Users/liurongfu/Work/CMASS_lens_project/Posterior_predictive_test/ppt_20260311_profile_summary/assets/devauc_fig8_like_trimmed.png"/>
          <p:cNvPicPr>
            <a:picLocks noChangeAspect="1"/>
          </p:cNvPicPr>
          <p:nvPr/>
        </p:nvPicPr>
        <p:blipFill>
          <a:blip r:embed="rId3"/>
          <a:stretch>
            <a:fillRect/>
          </a:stretch>
        </p:blipFill>
        <p:spPr>
          <a:xfrm>
            <a:off x="621792" y="1572676"/>
            <a:ext cx="3181074" cy="3992202"/>
          </a:xfrm>
          <a:prstGeom prst="rect">
            <a:avLst/>
          </a:prstGeom>
        </p:spPr>
      </p:pic>
      <p:pic>
        <p:nvPicPr>
          <p:cNvPr id="16" name="Image 1" descr="/Users/liurongfu/Work/CMASS_lens_project/Posterior_predictive_test/ppt_20260311_profile_summary/assets/sersic_fig8_like_trimmed.png"/>
          <p:cNvPicPr>
            <a:picLocks noChangeAspect="1"/>
          </p:cNvPicPr>
          <p:nvPr/>
        </p:nvPicPr>
        <p:blipFill>
          <a:blip r:embed="rId4"/>
          <a:stretch>
            <a:fillRect/>
          </a:stretch>
        </p:blipFill>
        <p:spPr>
          <a:xfrm>
            <a:off x="6382512" y="1747011"/>
            <a:ext cx="3090672" cy="3878749"/>
          </a:xfrm>
          <a:prstGeom prst="rect">
            <a:avLst/>
          </a:prstGeom>
        </p:spPr>
      </p:pic>
      <p:sp>
        <p:nvSpPr>
          <p:cNvPr id="17" name="Shape 13"/>
          <p:cNvSpPr/>
          <p:nvPr/>
        </p:nvSpPr>
        <p:spPr>
          <a:xfrm>
            <a:off x="3840480" y="1618488"/>
            <a:ext cx="1938528" cy="4169664"/>
          </a:xfrm>
          <a:prstGeom prst="rect">
            <a:avLst/>
          </a:prstGeom>
          <a:solidFill>
            <a:srgbClr val="FBF7F0"/>
          </a:solidFill>
          <a:ln w="12700">
            <a:solidFill>
              <a:srgbClr val="D4C6B2"/>
            </a:solidFill>
            <a:prstDash val="solid"/>
          </a:ln>
        </p:spPr>
      </p:sp>
      <p:sp>
        <p:nvSpPr>
          <p:cNvPr id="18" name="Shape 14"/>
          <p:cNvSpPr/>
          <p:nvPr/>
        </p:nvSpPr>
        <p:spPr>
          <a:xfrm>
            <a:off x="9628632" y="1618488"/>
            <a:ext cx="1938528" cy="4169664"/>
          </a:xfrm>
          <a:prstGeom prst="rect">
            <a:avLst/>
          </a:prstGeom>
          <a:solidFill>
            <a:srgbClr val="FBF7F0"/>
          </a:solidFill>
          <a:ln w="12700">
            <a:solidFill>
              <a:srgbClr val="D4C6B2"/>
            </a:solidFill>
            <a:prstDash val="solid"/>
          </a:ln>
        </p:spPr>
      </p:sp>
      <p:sp>
        <p:nvSpPr>
          <p:cNvPr id="19" name="Text 15"/>
          <p:cNvSpPr/>
          <p:nvPr/>
        </p:nvSpPr>
        <p:spPr>
          <a:xfrm>
            <a:off x="3986784" y="1801368"/>
            <a:ext cx="1645920" cy="3749040"/>
          </a:xfrm>
          <a:prstGeom prst="rect">
            <a:avLst/>
          </a:prstGeom>
          <a:noFill/>
          <a:ln/>
        </p:spPr>
        <p:txBody>
          <a:bodyPr wrap="square" lIns="0" tIns="0" rIns="0" bIns="0" rtlCol="0" anchor="t">
            <a:normAutofit/>
          </a:bodyPr>
          <a:lstStyle/>
          <a:p>
            <a:pPr marL="0" indent="0">
              <a:buNone/>
            </a:pPr>
            <a:r>
              <a:rPr lang="en-US" sz="890" dirty="0">
                <a:solidFill>
                  <a:srgbClr val="233446"/>
                </a:solidFill>
                <a:latin typeface="Avenir Next" pitchFamily="34" charset="0"/>
                <a:ea typeface="Avenir Next" pitchFamily="34" charset="-122"/>
                <a:cs typeface="Avenir Next" pitchFamily="34" charset="-120"/>
              </a:rPr>
              <a:t>m5 selection uplift: +0.05 -&gt; +0.12 dex from low to high mass.</a:t>
            </a:r>
            <a:endParaRPr lang="en-US" sz="890" dirty="0"/>
          </a:p>
          <a:p>
            <a:pPr marL="0" indent="0">
              <a:buNone/>
            </a:pPr>
            <a:r>
              <a:rPr lang="en-US" sz="890" dirty="0">
                <a:solidFill>
                  <a:srgbClr val="233446"/>
                </a:solidFill>
                <a:latin typeface="Avenir Next" pitchFamily="34" charset="0"/>
                <a:ea typeface="Avenir Next" pitchFamily="34" charset="-122"/>
                <a:cs typeface="Avenir Next" pitchFamily="34" charset="-120"/>
              </a:rPr>
              <a:t>gamma selection shift: +0.04 -&gt; +0.02; sign tells whether selection pushes the curve above or below parent.</a:t>
            </a:r>
            <a:endParaRPr lang="en-US" sz="890" dirty="0"/>
          </a:p>
          <a:p>
            <a:pPr marL="0" indent="0">
              <a:buNone/>
            </a:pPr>
            <a:r>
              <a:rPr lang="en-US" sz="890" dirty="0">
                <a:solidFill>
                  <a:srgbClr val="233446"/>
                </a:solidFill>
                <a:latin typeface="Avenir Next" pitchFamily="34" charset="0"/>
                <a:ea typeface="Avenir Next" pitchFamily="34" charset="-122"/>
                <a:cs typeface="Avenir Next" pitchFamily="34" charset="-120"/>
              </a:rPr>
              <a:t>sigma_ap boost: +24.0 -&gt; +31.1 km/s across the mass range.</a:t>
            </a:r>
            <a:endParaRPr lang="en-US" sz="890" dirty="0"/>
          </a:p>
        </p:txBody>
      </p:sp>
      <p:sp>
        <p:nvSpPr>
          <p:cNvPr id="20" name="Text 16"/>
          <p:cNvSpPr/>
          <p:nvPr/>
        </p:nvSpPr>
        <p:spPr>
          <a:xfrm>
            <a:off x="9774936" y="1801368"/>
            <a:ext cx="1645920" cy="3749040"/>
          </a:xfrm>
          <a:prstGeom prst="rect">
            <a:avLst/>
          </a:prstGeom>
          <a:noFill/>
          <a:ln/>
        </p:spPr>
        <p:txBody>
          <a:bodyPr wrap="square" lIns="0" tIns="0" rIns="0" bIns="0" rtlCol="0" anchor="t">
            <a:normAutofit/>
          </a:bodyPr>
          <a:lstStyle/>
          <a:p>
            <a:pPr marL="0" indent="0">
              <a:buNone/>
            </a:pPr>
            <a:r>
              <a:rPr lang="en-US" sz="890" dirty="0">
                <a:solidFill>
                  <a:srgbClr val="233446"/>
                </a:solidFill>
                <a:latin typeface="Avenir Next" pitchFamily="34" charset="0"/>
                <a:ea typeface="Avenir Next" pitchFamily="34" charset="-122"/>
                <a:cs typeface="Avenir Next" pitchFamily="34" charset="-120"/>
              </a:rPr>
              <a:t>m5 selection uplift: +0.03 -&gt; +0.08 dex from low to high mass.</a:t>
            </a:r>
            <a:endParaRPr lang="en-US" sz="890" dirty="0"/>
          </a:p>
          <a:p>
            <a:pPr marL="0" indent="0">
              <a:buNone/>
            </a:pPr>
            <a:r>
              <a:rPr lang="en-US" sz="890" dirty="0">
                <a:solidFill>
                  <a:srgbClr val="233446"/>
                </a:solidFill>
                <a:latin typeface="Avenir Next" pitchFamily="34" charset="0"/>
                <a:ea typeface="Avenir Next" pitchFamily="34" charset="-122"/>
                <a:cs typeface="Avenir Next" pitchFamily="34" charset="-120"/>
              </a:rPr>
              <a:t>gamma selection shift: +0.01 -&gt; -0.06; sign tells whether selection pushes the curve above or below parent.</a:t>
            </a:r>
            <a:endParaRPr lang="en-US" sz="890" dirty="0"/>
          </a:p>
          <a:p>
            <a:pPr marL="0" indent="0">
              <a:buNone/>
            </a:pPr>
            <a:r>
              <a:rPr lang="en-US" sz="890" dirty="0">
                <a:solidFill>
                  <a:srgbClr val="233446"/>
                </a:solidFill>
                <a:latin typeface="Avenir Next" pitchFamily="34" charset="0"/>
                <a:ea typeface="Avenir Next" pitchFamily="34" charset="-122"/>
                <a:cs typeface="Avenir Next" pitchFamily="34" charset="-120"/>
              </a:rPr>
              <a:t>sigma_ap boost: +12.0 -&gt; +11.3 km/s across the mass range.</a:t>
            </a:r>
            <a:endParaRPr lang="en-US" sz="890" dirty="0"/>
          </a:p>
        </p:txBody>
      </p:sp>
      <p:sp>
        <p:nvSpPr>
          <p:cNvPr id="21" name="Shape 17"/>
          <p:cNvSpPr/>
          <p:nvPr/>
        </p:nvSpPr>
        <p:spPr>
          <a:xfrm>
            <a:off x="457200" y="6236208"/>
            <a:ext cx="11274552" cy="384048"/>
          </a:xfrm>
          <a:prstGeom prst="rect">
            <a:avLst/>
          </a:prstGeom>
          <a:solidFill>
            <a:srgbClr val="EFE6D8"/>
          </a:solidFill>
          <a:ln w="12700">
            <a:solidFill>
              <a:srgbClr val="D4C6B2"/>
            </a:solidFill>
            <a:prstDash val="solid"/>
          </a:ln>
        </p:spPr>
      </p:sp>
      <p:sp>
        <p:nvSpPr>
          <p:cNvPr id="22" name="Text 18"/>
          <p:cNvSpPr/>
          <p:nvPr/>
        </p:nvSpPr>
        <p:spPr>
          <a:xfrm>
            <a:off x="621792" y="6345936"/>
            <a:ext cx="10927080" cy="128016"/>
          </a:xfrm>
          <a:prstGeom prst="rect">
            <a:avLst/>
          </a:prstGeom>
          <a:noFill/>
          <a:ln/>
        </p:spPr>
        <p:txBody>
          <a:bodyPr wrap="square" lIns="0" tIns="0" rIns="0" bIns="0" rtlCol="0" anchor="ctr"/>
          <a:lstStyle/>
          <a:p>
            <a:pPr marL="0" indent="0" algn="ctr">
              <a:buNone/>
            </a:pP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442</Words>
  <Application>Microsoft Macintosh PowerPoint</Application>
  <PresentationFormat>宽屏</PresentationFormat>
  <Paragraphs>40</Paragraphs>
  <Slides>3</Slides>
  <Notes>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vt:i4>
      </vt:variant>
    </vt:vector>
  </HeadingPairs>
  <TitlesOfParts>
    <vt:vector size="6" baseType="lpstr">
      <vt:lpstr>Arial</vt:lpstr>
      <vt:lpstr>Avenir Next</vt:lpstr>
      <vt:lpstr>Office Theme</vt:lpstr>
      <vt:lpstr>PowerPoint 演示文稿</vt:lpstr>
      <vt:lpstr>PowerPoint 演示文稿</vt:lpstr>
      <vt:lpstr>PowerPoint 演示文稿</vt:lpstr>
    </vt:vector>
  </TitlesOfParts>
  <Company>CMASS Lens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CMASS lens profile summary</dc:title>
  <dc:subject>Posterior corners, canonical PPC, and Fig. 8-like trend summary</dc:subject>
  <dc:creator>OpenAI Codex</dc:creator>
  <cp:lastModifiedBy>容甫 刘</cp:lastModifiedBy>
  <cp:revision>2</cp:revision>
  <dcterms:created xsi:type="dcterms:W3CDTF">2026-03-11T06:48:26Z</dcterms:created>
  <dcterms:modified xsi:type="dcterms:W3CDTF">2026-03-11T10:41:30Z</dcterms:modified>
</cp:coreProperties>
</file>